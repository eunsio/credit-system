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229600" y="3200400"/>
            <a:ext cx="5486400" cy="5486400"/>
          </a:xfrm>
          <a:prstGeom prst="ellipse">
            <a:avLst/>
          </a:prstGeom>
          <a:solidFill>
            <a:srgbClr val="EA580C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毕业答辩 ·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377440" cy="4572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🎓 毕业设计答辩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SpringCloud 的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创新学分申领管理平台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Innovation Credit Application Management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B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微服务架构 · 前后端分离 · 数据可视化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开发人：XXX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59436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Contents · 目录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答辩内容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本次答辩共分为七个部分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10058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7" name="Text 5"/>
          <p:cNvSpPr/>
          <p:nvPr/>
        </p:nvSpPr>
        <p:spPr>
          <a:xfrm>
            <a:off x="914400" y="1892808"/>
            <a:ext cx="5486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892808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项目开发技术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22199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技术选型与架构组件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926080"/>
            <a:ext cx="54864" cy="10058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2" name="Text 10"/>
          <p:cNvSpPr/>
          <p:nvPr/>
        </p:nvSpPr>
        <p:spPr>
          <a:xfrm>
            <a:off x="914400" y="3035808"/>
            <a:ext cx="5486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035808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开发项目背景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36499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项目开发的原因与意义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069080"/>
            <a:ext cx="54864" cy="10058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7" name="Text 15"/>
          <p:cNvSpPr/>
          <p:nvPr/>
        </p:nvSpPr>
        <p:spPr>
          <a:xfrm>
            <a:off x="914400" y="4178808"/>
            <a:ext cx="5486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178808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系统功能图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50799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系统整体功能结构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178308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783080"/>
            <a:ext cx="54864" cy="10058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2" name="Text 20"/>
          <p:cNvSpPr/>
          <p:nvPr/>
        </p:nvSpPr>
        <p:spPr>
          <a:xfrm>
            <a:off x="6172200" y="1892808"/>
            <a:ext cx="5486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1892808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用例图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22199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用户角色与系统交互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92608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926080"/>
            <a:ext cx="54864" cy="10058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7" name="Text 25"/>
          <p:cNvSpPr/>
          <p:nvPr/>
        </p:nvSpPr>
        <p:spPr>
          <a:xfrm>
            <a:off x="6172200" y="3035808"/>
            <a:ext cx="5486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12280" y="3035808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ER图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12280" y="336499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数据库实体关系设计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406908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4069080"/>
            <a:ext cx="54864" cy="10058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2" name="Text 30"/>
          <p:cNvSpPr/>
          <p:nvPr/>
        </p:nvSpPr>
        <p:spPr>
          <a:xfrm>
            <a:off x="6172200" y="4178808"/>
            <a:ext cx="5486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12280" y="4178808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项目功能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12280" y="450799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学生与管理员核心功能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5203190"/>
            <a:ext cx="10378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5200015"/>
            <a:ext cx="54864" cy="10058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37" name="Text 35"/>
          <p:cNvSpPr/>
          <p:nvPr/>
        </p:nvSpPr>
        <p:spPr>
          <a:xfrm>
            <a:off x="914400" y="5321808"/>
            <a:ext cx="5486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554480" y="5349113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总结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554480" y="5705602"/>
            <a:ext cx="9144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学习收获、遇到的问题与心得体会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基于SpringCloud的创新学分申领管理平台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1828800"/>
            <a:ext cx="7315200" cy="7315200"/>
          </a:xfrm>
          <a:prstGeom prst="ellipse">
            <a:avLst/>
          </a:prstGeom>
          <a:solidFill>
            <a:srgbClr val="EA580C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1371600" y="18288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Section ·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项目开发</a:t>
            </a:r>
            <a:r>
              <a:rPr lang="en-US" sz="6400" b="1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166360" y="3749040"/>
            <a:ext cx="1828800" cy="36576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7" name="Text 5"/>
          <p:cNvSpPr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SpringCloud 微服务生态的技术选型与架构组件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 / 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Tech Stack · 技术选型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项目核心技术栈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微服务架构下的全链路技术组件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14173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7" name="Shape 5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8" name="Text 6"/>
          <p:cNvSpPr/>
          <p:nvPr/>
        </p:nvSpPr>
        <p:spPr>
          <a:xfrm>
            <a:off x="96012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0116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3774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注册中心与配置中心，实现服务发现与统一配置管理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783080"/>
            <a:ext cx="54864" cy="14173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3" name="Shape 11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14" name="Text 12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3774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接口远程调用，声明式服务间通信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17830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55280" y="1783080"/>
            <a:ext cx="54864" cy="14173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9" name="Shape 17"/>
          <p:cNvSpPr/>
          <p:nvPr/>
        </p:nvSpPr>
        <p:spPr>
          <a:xfrm>
            <a:off x="8183880" y="2057400"/>
            <a:ext cx="502920" cy="502920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20" name="Text 18"/>
          <p:cNvSpPr/>
          <p:nvPr/>
        </p:nvSpPr>
        <p:spPr>
          <a:xfrm>
            <a:off x="818388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23960" y="20116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23960" y="23774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关系型数据库，持久化存储业务数据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3832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383280"/>
            <a:ext cx="54864" cy="14173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5" name="Shape 23"/>
          <p:cNvSpPr/>
          <p:nvPr/>
        </p:nvSpPr>
        <p:spPr>
          <a:xfrm>
            <a:off x="960120" y="3657600"/>
            <a:ext cx="502920" cy="50292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26" name="Text 24"/>
          <p:cNvSpPr/>
          <p:nvPr/>
        </p:nvSpPr>
        <p:spPr>
          <a:xfrm>
            <a:off x="960120" y="36576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3611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SpringBoot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39776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基础开发框架，快速构建独立服务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33832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43400" y="3383280"/>
            <a:ext cx="54864" cy="14173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31" name="Shape 29"/>
          <p:cNvSpPr/>
          <p:nvPr/>
        </p:nvSpPr>
        <p:spPr>
          <a:xfrm>
            <a:off x="4572000" y="3657600"/>
            <a:ext cx="502920" cy="502920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32" name="Text 30"/>
          <p:cNvSpPr/>
          <p:nvPr/>
        </p:nvSpPr>
        <p:spPr>
          <a:xfrm>
            <a:off x="4572000" y="36576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3611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服务提供者集群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39776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搭建高可用集群，实现负载均衡与容错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55280" y="33832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55280" y="3383280"/>
            <a:ext cx="54864" cy="14173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7" name="Shape 35"/>
          <p:cNvSpPr/>
          <p:nvPr/>
        </p:nvSpPr>
        <p:spPr>
          <a:xfrm>
            <a:off x="8183880" y="3657600"/>
            <a:ext cx="502920" cy="50292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38" name="Text 36"/>
          <p:cNvSpPr/>
          <p:nvPr/>
        </p:nvSpPr>
        <p:spPr>
          <a:xfrm>
            <a:off x="8183880" y="36576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823960" y="3611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23960" y="39776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API网关，统一路由转发与全局鉴权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49834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1520" y="4983480"/>
            <a:ext cx="54864" cy="14173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43" name="Shape 41"/>
          <p:cNvSpPr/>
          <p:nvPr/>
        </p:nvSpPr>
        <p:spPr>
          <a:xfrm>
            <a:off x="960120" y="5257800"/>
            <a:ext cx="502920" cy="502920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44" name="Text 42"/>
          <p:cNvSpPr/>
          <p:nvPr/>
        </p:nvSpPr>
        <p:spPr>
          <a:xfrm>
            <a:off x="960120" y="52578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00200" y="52120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600200" y="55778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反向代理与负载均衡，提升并发处理能力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43400" y="49834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343400" y="4983480"/>
            <a:ext cx="54864" cy="14173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49" name="Shape 47"/>
          <p:cNvSpPr/>
          <p:nvPr/>
        </p:nvSpPr>
        <p:spPr>
          <a:xfrm>
            <a:off x="4572000" y="5257800"/>
            <a:ext cx="502920" cy="50292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50" name="Text 48"/>
          <p:cNvSpPr/>
          <p:nvPr/>
        </p:nvSpPr>
        <p:spPr>
          <a:xfrm>
            <a:off x="4572000" y="52578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212080" y="52120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212080" y="55778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缓存中间件，加速数据访问与热点数据处理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955280" y="498348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955280" y="4983480"/>
            <a:ext cx="54864" cy="14173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55" name="Shape 53"/>
          <p:cNvSpPr/>
          <p:nvPr/>
        </p:nvSpPr>
        <p:spPr>
          <a:xfrm>
            <a:off x="8183880" y="5257800"/>
            <a:ext cx="502920" cy="502920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56" name="Text 54"/>
          <p:cNvSpPr/>
          <p:nvPr/>
        </p:nvSpPr>
        <p:spPr>
          <a:xfrm>
            <a:off x="8183880" y="52578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823960" y="52120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Layui + Thymeleaf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23960" y="557784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前端页面渲染，Layui组件库 + Thymeleaf模板引擎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项目开发技术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1828800"/>
            <a:ext cx="7315200" cy="7315200"/>
          </a:xfrm>
          <a:prstGeom prst="ellipse">
            <a:avLst/>
          </a:prstGeom>
          <a:solidFill>
            <a:srgbClr val="EA580C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1371600" y="18288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Section ·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开发项目</a:t>
            </a:r>
            <a:r>
              <a:rPr lang="en-US" sz="6400" b="1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背景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166360" y="3749040"/>
            <a:ext cx="1828800" cy="36576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7" name="Text 5"/>
          <p:cNvSpPr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为什么要开发这个项目？传统学分管理的痛点与挑战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Background · 开发背景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传统学分管理面临的</a:t>
            </a:r>
            <a:r>
              <a:rPr lang="en-US" sz="28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三大痛点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随着高校创新创业教育推进，创新学分管理成为教务管理的重要环节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" cy="265176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7" name="Shape 5"/>
          <p:cNvSpPr/>
          <p:nvPr/>
        </p:nvSpPr>
        <p:spPr>
          <a:xfrm>
            <a:off x="2011680" y="2148840"/>
            <a:ext cx="822960" cy="822960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8" name="Text 6"/>
          <p:cNvSpPr/>
          <p:nvPr/>
        </p:nvSpPr>
        <p:spPr>
          <a:xfrm>
            <a:off x="2011680" y="21488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效率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效率低下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52044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传统纸质申请、人工审核流程繁琐，学生提交材料后需线下跑多个部门签字盖章，审批周期长、耗时长、人力成本高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828800"/>
            <a:ext cx="54864" cy="265176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3" name="Shape 11"/>
          <p:cNvSpPr/>
          <p:nvPr/>
        </p:nvSpPr>
        <p:spPr>
          <a:xfrm>
            <a:off x="5623560" y="2148840"/>
            <a:ext cx="822960" cy="82296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14" name="Text 12"/>
          <p:cNvSpPr/>
          <p:nvPr/>
        </p:nvSpPr>
        <p:spPr>
          <a:xfrm>
            <a:off x="5623560" y="21488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310896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58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统计困难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学分记录分散在各部门与学院，数据格式不统一，难以汇总分析各年级获奖情况，缺乏可视化数据支撑决策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1828800"/>
            <a:ext cx="3383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55280" y="1828800"/>
            <a:ext cx="54864" cy="265176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9" name="Shape 17"/>
          <p:cNvSpPr/>
          <p:nvPr/>
        </p:nvSpPr>
        <p:spPr>
          <a:xfrm>
            <a:off x="9235440" y="2148840"/>
            <a:ext cx="822960" cy="822960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20" name="Text 18"/>
          <p:cNvSpPr/>
          <p:nvPr/>
        </p:nvSpPr>
        <p:spPr>
          <a:xfrm>
            <a:off x="9235440" y="21488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310896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追溯不便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83880" y="352044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审批过程缺乏完整记录，信息难以追溯，学生无法实时查看审批进度，获奖证明材料易丢失，缺乏统一归档管理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846320"/>
            <a:ext cx="73152" cy="109728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5" name="Text 23"/>
          <p:cNvSpPr/>
          <p:nvPr/>
        </p:nvSpPr>
        <p:spPr>
          <a:xfrm>
            <a:off x="1005840" y="4937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项目目标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530352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构建基于微服务架构的创新学分申领管理平台，实现学分申领线上化、审批流程自动化、数据统计可视化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开发项目背景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Diagram ·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系统功能图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系统整体功能模块结构设计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9418320" cy="4114800"/>
          </a:xfrm>
          <a:prstGeom prst="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23560" y="3017520"/>
            <a:ext cx="914400" cy="914400"/>
          </a:xfrm>
          <a:prstGeom prst="ellipse">
            <a:avLst/>
          </a:prstGeom>
          <a:solidFill>
            <a:srgbClr val="E0E7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30175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系统功能图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请在此处插入图片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4983480"/>
            <a:ext cx="9418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替换方法：在PPT中点击此区域 → 插入图片 → 选择 系统功能图.png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2057400"/>
            <a:ext cx="1280160" cy="320040"/>
          </a:xfrm>
          <a:prstGeom prst="roundRect">
            <a:avLst/>
          </a:prstGeom>
          <a:solidFill>
            <a:srgbClr val="4F46E5"/>
          </a:solidFill>
        </p:spPr>
      </p:sp>
      <p:sp>
        <p:nvSpPr>
          <p:cNvPr id="12" name="Text 10"/>
          <p:cNvSpPr/>
          <p:nvPr/>
        </p:nvSpPr>
        <p:spPr>
          <a:xfrm>
            <a:off x="9326880" y="205740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系统功能图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 Case ·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用例图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用户角色与系统功能交互关系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9418320" cy="4114800"/>
          </a:xfrm>
          <a:prstGeom prst="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23560" y="3017520"/>
            <a:ext cx="914400" cy="914400"/>
          </a:xfrm>
          <a:prstGeom prst="ellipse">
            <a:avLst/>
          </a:prstGeom>
          <a:solidFill>
            <a:srgbClr val="E0E7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30175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用例图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请在此处插入图片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4983480"/>
            <a:ext cx="9418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替换方法：在PPT中点击此区域 → 插入图片 → 选择 用例图.png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2057400"/>
            <a:ext cx="1280160" cy="320040"/>
          </a:xfrm>
          <a:prstGeom prst="roundRect">
            <a:avLst/>
          </a:prstGeom>
          <a:solidFill>
            <a:srgbClr val="4F46E5"/>
          </a:solidFill>
        </p:spPr>
      </p:sp>
      <p:sp>
        <p:nvSpPr>
          <p:cNvPr id="12" name="Text 10"/>
          <p:cNvSpPr/>
          <p:nvPr/>
        </p:nvSpPr>
        <p:spPr>
          <a:xfrm>
            <a:off x="9326880" y="205740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用例图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ER Diagram ·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数据库实体关系设计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9418320" cy="4114800"/>
          </a:xfrm>
          <a:prstGeom prst="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23560" y="3017520"/>
            <a:ext cx="914400" cy="914400"/>
          </a:xfrm>
          <a:prstGeom prst="ellipse">
            <a:avLst/>
          </a:prstGeom>
          <a:solidFill>
            <a:srgbClr val="E0E7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30175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ER图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请在此处插入图片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4983480"/>
            <a:ext cx="9418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替换方法：在PPT中点击此区域 → 插入图片 → 选择 ER图.png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2057400"/>
            <a:ext cx="1280160" cy="320040"/>
          </a:xfrm>
          <a:prstGeom prst="roundRect">
            <a:avLst/>
          </a:prstGeom>
          <a:solidFill>
            <a:srgbClr val="4F46E5"/>
          </a:solidFill>
        </p:spPr>
      </p:sp>
      <p:sp>
        <p:nvSpPr>
          <p:cNvPr id="12" name="Text 10"/>
          <p:cNvSpPr/>
          <p:nvPr/>
        </p:nvSpPr>
        <p:spPr>
          <a:xfrm>
            <a:off x="9326880" y="205740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1828800"/>
            <a:ext cx="7315200" cy="7315200"/>
          </a:xfrm>
          <a:prstGeom prst="ellipse">
            <a:avLst/>
          </a:prstGeom>
          <a:solidFill>
            <a:srgbClr val="EA580C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1371600" y="18288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Section ·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</a:t>
            </a:r>
            <a:r>
              <a:rPr lang="en-US" sz="6400" b="1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166360" y="3749040"/>
            <a:ext cx="1828800" cy="36576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7" name="Text 5"/>
          <p:cNvSpPr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学生端与管理员端核心功能模块展示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/ 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 Module · 学生端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学生模块</a:t>
            </a:r>
            <a:r>
              <a:rPr lang="en-US" sz="28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面向学生用户的七大功能模块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57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109728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7" name="Shape 5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8" name="Text 6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96596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个人信息管理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修改头像、昵称、简介、联系方式等个人资料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257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783080"/>
            <a:ext cx="54864" cy="109728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3" name="Shape 11"/>
          <p:cNvSpPr/>
          <p:nvPr/>
        </p:nvSpPr>
        <p:spPr>
          <a:xfrm>
            <a:off x="6309360" y="2011680"/>
            <a:ext cx="502920" cy="5029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4" name="Text 12"/>
          <p:cNvSpPr/>
          <p:nvPr/>
        </p:nvSpPr>
        <p:spPr>
          <a:xfrm>
            <a:off x="6309360" y="20116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196596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安全中心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228600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修改登录密码、绑定或更换手机号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5257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063240"/>
            <a:ext cx="54864" cy="109728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9" name="Shape 17"/>
          <p:cNvSpPr/>
          <p:nvPr/>
        </p:nvSpPr>
        <p:spPr>
          <a:xfrm>
            <a:off x="868680" y="3291840"/>
            <a:ext cx="502920" cy="5029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0" name="Text 18"/>
          <p:cNvSpPr/>
          <p:nvPr/>
        </p:nvSpPr>
        <p:spPr>
          <a:xfrm>
            <a:off x="868680" y="32918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324612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比赛信息查看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356616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查看可参加比赛详情，一键跳转报名系统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063240"/>
            <a:ext cx="5257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063240"/>
            <a:ext cx="54864" cy="109728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5" name="Shape 23"/>
          <p:cNvSpPr/>
          <p:nvPr/>
        </p:nvSpPr>
        <p:spPr>
          <a:xfrm>
            <a:off x="6309360" y="3291840"/>
            <a:ext cx="502920" cy="5029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6" name="Text 24"/>
          <p:cNvSpPr/>
          <p:nvPr/>
        </p:nvSpPr>
        <p:spPr>
          <a:xfrm>
            <a:off x="6309360" y="32918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24612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创新学分申领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356616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上传获奖证明照片，在线申领创新学分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343400"/>
            <a:ext cx="5257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343400"/>
            <a:ext cx="54864" cy="109728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31" name="Shape 29"/>
          <p:cNvSpPr/>
          <p:nvPr/>
        </p:nvSpPr>
        <p:spPr>
          <a:xfrm>
            <a:off x="868680" y="4572000"/>
            <a:ext cx="502920" cy="5029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32" name="Text 30"/>
          <p:cNvSpPr/>
          <p:nvPr/>
        </p:nvSpPr>
        <p:spPr>
          <a:xfrm>
            <a:off x="868680" y="45720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08760" y="452628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个人获奖查询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508760" y="484632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查看当前学年获奖情况与学分获得明细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4343400"/>
            <a:ext cx="5257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4343400"/>
            <a:ext cx="54864" cy="109728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7" name="Shape 35"/>
          <p:cNvSpPr/>
          <p:nvPr/>
        </p:nvSpPr>
        <p:spPr>
          <a:xfrm>
            <a:off x="6309360" y="4572000"/>
            <a:ext cx="502920" cy="5029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8" name="Text 36"/>
          <p:cNvSpPr/>
          <p:nvPr/>
        </p:nvSpPr>
        <p:spPr>
          <a:xfrm>
            <a:off x="6309360" y="45720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452628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技术求助交流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49440" y="484632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发布求助信息、回复帖子，技术交流互助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5623560"/>
            <a:ext cx="10698480" cy="80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1520" y="5623560"/>
            <a:ext cx="76200" cy="832485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43" name="Shape 41"/>
          <p:cNvSpPr/>
          <p:nvPr/>
        </p:nvSpPr>
        <p:spPr>
          <a:xfrm>
            <a:off x="868680" y="5723890"/>
            <a:ext cx="502920" cy="5029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44" name="Text 42"/>
          <p:cNvSpPr/>
          <p:nvPr/>
        </p:nvSpPr>
        <p:spPr>
          <a:xfrm>
            <a:off x="868680" y="572389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73200" y="572389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指导教师查看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508760" y="603504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浏览全校指导教师信息，查看简介与联系方式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项目功能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Admin Module · 管理员端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管理员模块</a:t>
            </a:r>
            <a:r>
              <a:rPr lang="en-US" sz="28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面向管理员的后台管理功能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12344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7" name="Shape 5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8" name="Text 6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01168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比赛信息管理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377440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比赛信息的添加、查看、修改、删除（CRUD）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783080"/>
            <a:ext cx="54864" cy="12344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3" name="Shape 11"/>
          <p:cNvSpPr/>
          <p:nvPr/>
        </p:nvSpPr>
        <p:spPr>
          <a:xfrm>
            <a:off x="6309360" y="2057400"/>
            <a:ext cx="502920" cy="5029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4" name="Text 12"/>
          <p:cNvSpPr/>
          <p:nvPr/>
        </p:nvSpPr>
        <p:spPr>
          <a:xfrm>
            <a:off x="630936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201168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学生信息统计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2377440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查看学生获奖情况，图表展示各年级统计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200400"/>
            <a:ext cx="54864" cy="12344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9" name="Shape 17"/>
          <p:cNvSpPr/>
          <p:nvPr/>
        </p:nvSpPr>
        <p:spPr>
          <a:xfrm>
            <a:off x="868680" y="3474720"/>
            <a:ext cx="502920" cy="5029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0" name="Text 18"/>
          <p:cNvSpPr/>
          <p:nvPr/>
        </p:nvSpPr>
        <p:spPr>
          <a:xfrm>
            <a:off x="868680" y="3474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342900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学分审批管理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3794760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批准或驳回学分申请，填写审批备注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20040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200400"/>
            <a:ext cx="54864" cy="12344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5" name="Shape 23"/>
          <p:cNvSpPr/>
          <p:nvPr/>
        </p:nvSpPr>
        <p:spPr>
          <a:xfrm>
            <a:off x="6309360" y="3474720"/>
            <a:ext cx="502920" cy="5029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26" name="Text 24"/>
          <p:cNvSpPr/>
          <p:nvPr/>
        </p:nvSpPr>
        <p:spPr>
          <a:xfrm>
            <a:off x="6309360" y="34747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42900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技术社区管理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3794760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查看/删除帖子，发布官方公告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61772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617720"/>
            <a:ext cx="54864" cy="12344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31" name="Shape 29"/>
          <p:cNvSpPr/>
          <p:nvPr/>
        </p:nvSpPr>
        <p:spPr>
          <a:xfrm>
            <a:off x="868680" y="4892040"/>
            <a:ext cx="502920" cy="5029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32" name="Text 30"/>
          <p:cNvSpPr/>
          <p:nvPr/>
        </p:nvSpPr>
        <p:spPr>
          <a:xfrm>
            <a:off x="868680" y="48920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08760" y="484632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指导教师管理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508760" y="5212080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指导教师信息的增删改查操作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4617720"/>
            <a:ext cx="5257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4617720"/>
            <a:ext cx="54864" cy="12344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7" name="Shape 35"/>
          <p:cNvSpPr/>
          <p:nvPr/>
        </p:nvSpPr>
        <p:spPr>
          <a:xfrm>
            <a:off x="6309360" y="4892040"/>
            <a:ext cx="502920" cy="5029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8" name="Text 36"/>
          <p:cNvSpPr/>
          <p:nvPr/>
        </p:nvSpPr>
        <p:spPr>
          <a:xfrm>
            <a:off x="6309360" y="48920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4846320"/>
            <a:ext cx="4160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数据可视化分析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49440" y="5212080"/>
            <a:ext cx="4160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各年级获奖统计、申领状态分布等图表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项目功能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1828800"/>
            <a:ext cx="7315200" cy="7315200"/>
          </a:xfrm>
          <a:prstGeom prst="ellipse">
            <a:avLst/>
          </a:prstGeom>
          <a:solidFill>
            <a:srgbClr val="EA580C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1371600" y="18288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Section ·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总结与</a:t>
            </a:r>
            <a:r>
              <a:rPr lang="en-US" sz="6400" b="1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收获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166360" y="3749040"/>
            <a:ext cx="1828800" cy="36576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7" name="Text 5"/>
          <p:cNvSpPr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学习到的东西、遇到的问题与收获体会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46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Summary · 总结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学习收获与</a:t>
            </a:r>
            <a:r>
              <a:rPr lang="en-US" sz="28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问题反思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从实践中成长，在问题中进步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57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347472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7" name="Text 5"/>
          <p:cNvSpPr/>
          <p:nvPr/>
        </p:nvSpPr>
        <p:spPr>
          <a:xfrm>
            <a:off x="960120" y="1920240"/>
            <a:ext cx="4800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📚 学到了什么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80060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掌握了 SpringCloud 微服务架构设计，理解服务注册发现、配置中心、网关路由等核心概念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熟悉了 Nacos、OpenFeign、Gateway 等微服务组件的实际应用与集成方式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理解了 JWT 无状态认证机制与网关统一鉴权的实现原理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提升了数据库设计能力，掌握了 ER 建模与多表关联查询优化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积累了 Layui + Thymeleaf 前端开发与前后端数据交互经验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学会了使用 Redis 缓存优化系统性能，理解 Nginx 反向代理与负载均衡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83080"/>
            <a:ext cx="54864" cy="347472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11" name="Text 9"/>
          <p:cNvSpPr/>
          <p:nvPr/>
        </p:nvSpPr>
        <p:spPr>
          <a:xfrm>
            <a:off x="6400800" y="1920240"/>
            <a:ext cx="4800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遇到的问题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480060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微服务间通信数据一致性问题，通过 OpenFeign 声明式调用与异常重试机制解决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跨域资源共享（CORS）问题，在网关层统一配置跨域策略解决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网关全局鉴权与 Token 传递问题，通过自定义 GlobalFilter 解析 Token 并写入请求头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多表关联查询性能瓶颈，通过合理建立索引与 SQL 优化提升查询效率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文件上传与存储管理，通过统一的文件上传接口与静态资源映射解决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532120"/>
            <a:ext cx="73152" cy="86868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5" name="Text 13"/>
          <p:cNvSpPr/>
          <p:nvPr/>
        </p:nvSpPr>
        <p:spPr>
          <a:xfrm>
            <a:off x="1005840" y="56235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收获与体会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89788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通过本项目开发，不仅掌握了微服务架构的完整技术体系，更提升了独立分析问题和解决问题的工程实践能力。深刻体会到架构设计的重要性——良好的模块划分和接口规范是项目可维护性的基石。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总结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1828800"/>
            <a:ext cx="7315200" cy="7315200"/>
          </a:xfrm>
          <a:prstGeom prst="ellipse">
            <a:avLst/>
          </a:prstGeom>
          <a:solidFill>
            <a:srgbClr val="EA580C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感谢聆听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恳请各位老师批评指正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B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基于SpringCloud的创新学分申领管理平台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开发人：XXX    |    2026年6月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答辩结束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2449</Words>
  <Application>WPS 演示</Application>
  <PresentationFormat>On-screen Show (16:9)</PresentationFormat>
  <Paragraphs>405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Consolas</vt:lpstr>
      <vt:lpstr>Consolas</vt:lpstr>
      <vt:lpstr>Consolas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基于SpringCloud的创新学分申领管理平台 - 答辩</dc:title>
  <dc:creator>XXX</dc:creator>
  <dc:subject>PptxGenJS Presentation</dc:subject>
  <cp:lastModifiedBy>Eunsio</cp:lastModifiedBy>
  <cp:revision>3</cp:revision>
  <dcterms:created xsi:type="dcterms:W3CDTF">2026-06-26T17:47:00Z</dcterms:created>
  <dcterms:modified xsi:type="dcterms:W3CDTF">2026-06-27T13:35:04Z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2AA5DE0134C343EFBD644743CE5DFF9B_12</vt:lpwstr>
  </property>
</Properties>
</file>