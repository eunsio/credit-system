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6" Type="http://schemas.openxmlformats.org/officeDocument/2006/relationships/notesSlide" Target="../notesSlides/notesSlide5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31520" y="1463040"/>
            <a:ext cx="731520" cy="4572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5" name="Text 3"/>
          <p:cNvSpPr/>
          <p:nvPr/>
        </p:nvSpPr>
        <p:spPr>
          <a:xfrm>
            <a:off x="731520" y="164592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600" dirty="0">
                <a:solidFill>
                  <a:srgbClr val="14B8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课程</a:t>
            </a:r>
            <a:r>
              <a:rPr lang="en-US" sz="1600" dirty="0">
                <a:solidFill>
                  <a:srgbClr val="14B8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设计答辩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10515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基于SpringCloud的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10515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大学生创新创业学分管理系统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731520" y="4023360"/>
            <a:ext cx="2743200" cy="27432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9" name="Text 7"/>
          <p:cNvSpPr/>
          <p:nvPr/>
        </p:nvSpPr>
        <p:spPr>
          <a:xfrm>
            <a:off x="731520" y="429768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开发人：</a:t>
            </a:r>
            <a:r>
              <a:rPr lang="zh-CN" altLang="en-US" sz="18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尤恩霄</a:t>
            </a:r>
            <a:endParaRPr lang="zh-CN" altLang="en-US" sz="1800" dirty="0">
              <a:solidFill>
                <a:srgbClr val="E2E8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470916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指导教师：</a:t>
            </a:r>
            <a:r>
              <a:rPr lang="zh-CN" altLang="en-US" sz="18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杨红</a:t>
            </a:r>
            <a:r>
              <a:rPr lang="zh-CN" altLang="en-US" sz="1800" dirty="0">
                <a:solidFill>
                  <a:srgbClr val="E2E8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祥</a:t>
            </a:r>
            <a:endParaRPr lang="zh-CN" altLang="en-US" sz="1800" dirty="0">
              <a:solidFill>
                <a:srgbClr val="E2E8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594360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2026年6月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Text 1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  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548640" cy="36576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5" name="Shape 3"/>
          <p:cNvSpPr/>
          <p:nvPr/>
        </p:nvSpPr>
        <p:spPr>
          <a:xfrm>
            <a:off x="731520" y="1554480"/>
            <a:ext cx="5029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45920"/>
            <a:ext cx="7315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645920" y="1737360"/>
            <a:ext cx="18288" cy="6400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8" name="Text 6"/>
          <p:cNvSpPr/>
          <p:nvPr/>
        </p:nvSpPr>
        <p:spPr>
          <a:xfrm>
            <a:off x="1828800" y="1691640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项目开发技术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828800" y="2057400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SpringCloud微服务架构技术栈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743200"/>
            <a:ext cx="5029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834640"/>
            <a:ext cx="7315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1645920" y="2926080"/>
            <a:ext cx="18288" cy="6400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3" name="Text 11"/>
          <p:cNvSpPr/>
          <p:nvPr/>
        </p:nvSpPr>
        <p:spPr>
          <a:xfrm>
            <a:off x="1828800" y="2880360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项目开发背景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828800" y="3246120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系统开发的必要性与意义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931920"/>
            <a:ext cx="5029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023360"/>
            <a:ext cx="7315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1645920" y="4114800"/>
            <a:ext cx="18288" cy="6400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18" name="Text 16"/>
          <p:cNvSpPr/>
          <p:nvPr/>
        </p:nvSpPr>
        <p:spPr>
          <a:xfrm>
            <a:off x="1828800" y="4069080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系统功能图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828800" y="4434840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系统整体功能模块设计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5120640"/>
            <a:ext cx="5029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212080"/>
            <a:ext cx="7315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3200" dirty="0"/>
          </a:p>
        </p:txBody>
      </p:sp>
      <p:sp>
        <p:nvSpPr>
          <p:cNvPr id="22" name="Shape 20"/>
          <p:cNvSpPr/>
          <p:nvPr/>
        </p:nvSpPr>
        <p:spPr>
          <a:xfrm>
            <a:off x="1645920" y="5303520"/>
            <a:ext cx="18288" cy="6400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3" name="Text 21"/>
          <p:cNvSpPr/>
          <p:nvPr/>
        </p:nvSpPr>
        <p:spPr>
          <a:xfrm>
            <a:off x="1828800" y="5257800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用例图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828800" y="5623560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各角色用例分析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1554480"/>
            <a:ext cx="5029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1645920"/>
            <a:ext cx="7315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7132320" y="1737360"/>
            <a:ext cx="18288" cy="6400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8" name="Text 26"/>
          <p:cNvSpPr/>
          <p:nvPr/>
        </p:nvSpPr>
        <p:spPr>
          <a:xfrm>
            <a:off x="7315200" y="1691640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ER图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315200" y="2057400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数据库实体关系设计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2743200"/>
            <a:ext cx="5029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2834640"/>
            <a:ext cx="7315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3200" dirty="0"/>
          </a:p>
        </p:txBody>
      </p:sp>
      <p:sp>
        <p:nvSpPr>
          <p:cNvPr id="32" name="Shape 30"/>
          <p:cNvSpPr/>
          <p:nvPr/>
        </p:nvSpPr>
        <p:spPr>
          <a:xfrm>
            <a:off x="7132320" y="2926080"/>
            <a:ext cx="18288" cy="6400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3" name="Text 31"/>
          <p:cNvSpPr/>
          <p:nvPr/>
        </p:nvSpPr>
        <p:spPr>
          <a:xfrm>
            <a:off x="7315200" y="2880360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项目功能演示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315200" y="3246120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核心功能代码与讲解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7920" y="3931920"/>
            <a:ext cx="5029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4023360"/>
            <a:ext cx="7315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</a:t>
            </a:r>
            <a:endParaRPr lang="en-US" sz="3200" dirty="0"/>
          </a:p>
        </p:txBody>
      </p:sp>
      <p:sp>
        <p:nvSpPr>
          <p:cNvPr id="37" name="Shape 35"/>
          <p:cNvSpPr/>
          <p:nvPr/>
        </p:nvSpPr>
        <p:spPr>
          <a:xfrm>
            <a:off x="7132320" y="4114800"/>
            <a:ext cx="18288" cy="64008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38" name="Text 36"/>
          <p:cNvSpPr/>
          <p:nvPr/>
        </p:nvSpPr>
        <p:spPr>
          <a:xfrm>
            <a:off x="7315200" y="4069080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315200" y="4434840"/>
            <a:ext cx="3840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学习收获与问题反思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项目开发技术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后端技术架构：SpringCloud Alibaba 微服务体系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48640" cy="36576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6" name="Shape 4"/>
          <p:cNvSpPr/>
          <p:nvPr/>
        </p:nvSpPr>
        <p:spPr>
          <a:xfrm>
            <a:off x="640080" y="1627632"/>
            <a:ext cx="164592" cy="164592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7" name="Text 5"/>
          <p:cNvSpPr/>
          <p:nvPr/>
        </p:nvSpPr>
        <p:spPr>
          <a:xfrm>
            <a:off x="914400" y="155448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Spring Boot 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856232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微服务基础框架，提供自动配置与快速启动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313432"/>
            <a:ext cx="164592" cy="164592"/>
          </a:xfrm>
          <a:prstGeom prst="ellipse">
            <a:avLst/>
          </a:prstGeom>
          <a:solidFill>
            <a:srgbClr val="1E3A5F"/>
          </a:solidFill>
        </p:spPr>
      </p:sp>
      <p:sp>
        <p:nvSpPr>
          <p:cNvPr id="10" name="Text 8"/>
          <p:cNvSpPr/>
          <p:nvPr/>
        </p:nvSpPr>
        <p:spPr>
          <a:xfrm>
            <a:off x="914400" y="224028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Spring Cloud Gateway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542032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API网关，统一路由、跨域处理与请求转发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999232"/>
            <a:ext cx="164592" cy="164592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13" name="Text 11"/>
          <p:cNvSpPr/>
          <p:nvPr/>
        </p:nvSpPr>
        <p:spPr>
          <a:xfrm>
            <a:off x="914400" y="292608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Nacos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3227832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服务注册发现 + 配置中心，支持动态路由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685032"/>
            <a:ext cx="164592" cy="164592"/>
          </a:xfrm>
          <a:prstGeom prst="ellipse">
            <a:avLst/>
          </a:prstGeom>
          <a:solidFill>
            <a:srgbClr val="1E3A5F"/>
          </a:solidFill>
        </p:spPr>
      </p:sp>
      <p:sp>
        <p:nvSpPr>
          <p:cNvPr id="16" name="Text 14"/>
          <p:cNvSpPr/>
          <p:nvPr/>
        </p:nvSpPr>
        <p:spPr>
          <a:xfrm>
            <a:off x="914400" y="361188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MyBatis-Plus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913632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ORM框架，简化CRUD与分页查询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4370832"/>
            <a:ext cx="164592" cy="164592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19" name="Text 17"/>
          <p:cNvSpPr/>
          <p:nvPr/>
        </p:nvSpPr>
        <p:spPr>
          <a:xfrm>
            <a:off x="914400" y="429768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Spring Security + JWT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4599432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认证授权，Token无状态会话管理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5056632"/>
            <a:ext cx="164592" cy="164592"/>
          </a:xfrm>
          <a:prstGeom prst="ellipse">
            <a:avLst/>
          </a:prstGeom>
          <a:solidFill>
            <a:srgbClr val="1E3A5F"/>
          </a:solidFill>
        </p:spPr>
      </p:sp>
      <p:sp>
        <p:nvSpPr>
          <p:cNvPr id="22" name="Text 20"/>
          <p:cNvSpPr/>
          <p:nvPr/>
        </p:nvSpPr>
        <p:spPr>
          <a:xfrm>
            <a:off x="914400" y="498348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MySQL + Druid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5285232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关系型数据库 + 高性能连接池监控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5742432"/>
            <a:ext cx="164592" cy="164592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25" name="Text 23"/>
          <p:cNvSpPr/>
          <p:nvPr/>
        </p:nvSpPr>
        <p:spPr>
          <a:xfrm>
            <a:off x="914400" y="5669280"/>
            <a:ext cx="4114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Knife4j (Swagger)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" y="5971032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API接口文档自动生成与调试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583680" y="1554480"/>
            <a:ext cx="5029200" cy="47548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1645920"/>
            <a:ext cx="5029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微服务架构总览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498080" y="2194560"/>
            <a:ext cx="3200400" cy="4572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0" name="Text 28"/>
          <p:cNvSpPr/>
          <p:nvPr/>
        </p:nvSpPr>
        <p:spPr>
          <a:xfrm>
            <a:off x="7498080" y="2194560"/>
            <a:ext cx="3200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Gateway 网关 (8080)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966710" y="2833370"/>
            <a:ext cx="2286000" cy="41148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2" name="Text 30"/>
          <p:cNvSpPr/>
          <p:nvPr/>
        </p:nvSpPr>
        <p:spPr>
          <a:xfrm>
            <a:off x="7955280" y="2834640"/>
            <a:ext cx="22860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Nacos 注册/配置中心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48220" y="3502025"/>
            <a:ext cx="1097280" cy="54864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7" name="Text 35"/>
          <p:cNvSpPr/>
          <p:nvPr/>
        </p:nvSpPr>
        <p:spPr>
          <a:xfrm>
            <a:off x="7348220" y="3502025"/>
            <a:ext cx="10972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credit-auth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认证服务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628380" y="3502025"/>
            <a:ext cx="1097280" cy="54864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9" name="Text 37"/>
          <p:cNvSpPr/>
          <p:nvPr/>
        </p:nvSpPr>
        <p:spPr>
          <a:xfrm>
            <a:off x="8628380" y="3502025"/>
            <a:ext cx="10972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credit-user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用户服务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908540" y="3502025"/>
            <a:ext cx="1097280" cy="54864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41" name="Text 39"/>
          <p:cNvSpPr/>
          <p:nvPr/>
        </p:nvSpPr>
        <p:spPr>
          <a:xfrm>
            <a:off x="9908540" y="3502025"/>
            <a:ext cx="10972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credit-apply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学分申领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348220" y="4233545"/>
            <a:ext cx="1097280" cy="54864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43" name="Text 41"/>
          <p:cNvSpPr/>
          <p:nvPr/>
        </p:nvSpPr>
        <p:spPr>
          <a:xfrm>
            <a:off x="7348220" y="4233545"/>
            <a:ext cx="10972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credit-competition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竞赛管理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628380" y="4233545"/>
            <a:ext cx="1097280" cy="54864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45" name="Text 43"/>
          <p:cNvSpPr/>
          <p:nvPr/>
        </p:nvSpPr>
        <p:spPr>
          <a:xfrm>
            <a:off x="8628380" y="4233545"/>
            <a:ext cx="10972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credit-community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社区交流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9908540" y="4233545"/>
            <a:ext cx="1097280" cy="548640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47" name="Text 45"/>
          <p:cNvSpPr/>
          <p:nvPr/>
        </p:nvSpPr>
        <p:spPr>
          <a:xfrm>
            <a:off x="9908540" y="4233545"/>
            <a:ext cx="10972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credit-common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公共模块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772400" y="5120640"/>
            <a:ext cx="2743200" cy="4572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9" name="Text 47"/>
          <p:cNvSpPr/>
          <p:nvPr/>
        </p:nvSpPr>
        <p:spPr>
          <a:xfrm>
            <a:off x="7772400" y="5120640"/>
            <a:ext cx="2743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MySQL 数据库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583680" y="5760720"/>
            <a:ext cx="5029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6个微服务模块 + 1个网关 + 1个公共模块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项目开发技术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前端技术架构：Vue 3 组件化开发体系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48640" cy="36576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6" name="Shape 4"/>
          <p:cNvSpPr/>
          <p:nvPr/>
        </p:nvSpPr>
        <p:spPr>
          <a:xfrm>
            <a:off x="640080" y="1554480"/>
            <a:ext cx="530352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54864" cy="1005840"/>
          </a:xfrm>
          <a:prstGeom prst="rect">
            <a:avLst/>
          </a:prstGeom>
          <a:solidFill>
            <a:srgbClr val="42B883"/>
          </a:solidFill>
        </p:spPr>
      </p:sp>
      <p:sp>
        <p:nvSpPr>
          <p:cNvPr id="8" name="Text 6"/>
          <p:cNvSpPr/>
          <p:nvPr/>
        </p:nvSpPr>
        <p:spPr>
          <a:xfrm>
            <a:off x="822960" y="1645920"/>
            <a:ext cx="5029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Vue 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993392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渐进式JavaScript框架，Composition API组合式开发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2697480"/>
            <a:ext cx="530352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697480"/>
            <a:ext cx="54864" cy="1005840"/>
          </a:xfrm>
          <a:prstGeom prst="rect">
            <a:avLst/>
          </a:prstGeom>
          <a:solidFill>
            <a:srgbClr val="646CFF"/>
          </a:solidFill>
        </p:spPr>
      </p:sp>
      <p:sp>
        <p:nvSpPr>
          <p:cNvPr id="12" name="Text 10"/>
          <p:cNvSpPr/>
          <p:nvPr/>
        </p:nvSpPr>
        <p:spPr>
          <a:xfrm>
            <a:off x="822960" y="2788920"/>
            <a:ext cx="5029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Vite 6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136392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下一代前端构建工具，极速热更新与打包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530352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840480"/>
            <a:ext cx="54864" cy="1005840"/>
          </a:xfrm>
          <a:prstGeom prst="rect">
            <a:avLst/>
          </a:prstGeom>
          <a:solidFill>
            <a:srgbClr val="409EFF"/>
          </a:solidFill>
        </p:spPr>
      </p:sp>
      <p:sp>
        <p:nvSpPr>
          <p:cNvPr id="16" name="Text 14"/>
          <p:cNvSpPr/>
          <p:nvPr/>
        </p:nvSpPr>
        <p:spPr>
          <a:xfrm>
            <a:off x="822960" y="3931920"/>
            <a:ext cx="5029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Element Plus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279392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Vue 3 UI组件库，提供丰富的企业级组件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4983480"/>
            <a:ext cx="530352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983480"/>
            <a:ext cx="54864" cy="1005840"/>
          </a:xfrm>
          <a:prstGeom prst="rect">
            <a:avLst/>
          </a:prstGeom>
          <a:solidFill>
            <a:srgbClr val="FFD859"/>
          </a:solidFill>
        </p:spPr>
      </p:sp>
      <p:sp>
        <p:nvSpPr>
          <p:cNvPr id="20" name="Text 18"/>
          <p:cNvSpPr/>
          <p:nvPr/>
        </p:nvSpPr>
        <p:spPr>
          <a:xfrm>
            <a:off x="822960" y="5074920"/>
            <a:ext cx="5029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Pinia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5422392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Vue 3 官方状态管理库，类型安全且轻量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09360" y="1554480"/>
            <a:ext cx="530352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1554480"/>
            <a:ext cx="54864" cy="1005840"/>
          </a:xfrm>
          <a:prstGeom prst="rect">
            <a:avLst/>
          </a:prstGeom>
          <a:solidFill>
            <a:srgbClr val="42B883"/>
          </a:solidFill>
        </p:spPr>
      </p:sp>
      <p:sp>
        <p:nvSpPr>
          <p:cNvPr id="24" name="Text 22"/>
          <p:cNvSpPr/>
          <p:nvPr/>
        </p:nvSpPr>
        <p:spPr>
          <a:xfrm>
            <a:off x="6492240" y="1645920"/>
            <a:ext cx="5029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Vue Router 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92240" y="1993392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官方路由管理器，支持嵌套路由与权限控制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09360" y="2697480"/>
            <a:ext cx="530352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09360" y="2697480"/>
            <a:ext cx="54864" cy="1005840"/>
          </a:xfrm>
          <a:prstGeom prst="rect">
            <a:avLst/>
          </a:prstGeom>
          <a:solidFill>
            <a:srgbClr val="5A29E4"/>
          </a:solidFill>
        </p:spPr>
      </p:sp>
      <p:sp>
        <p:nvSpPr>
          <p:cNvPr id="28" name="Text 26"/>
          <p:cNvSpPr/>
          <p:nvPr/>
        </p:nvSpPr>
        <p:spPr>
          <a:xfrm>
            <a:off x="6492240" y="2788920"/>
            <a:ext cx="5029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Axios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92240" y="3136392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HTTP请求库，统一封装请求拦截与错误处理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09360" y="3840480"/>
            <a:ext cx="530352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09360" y="3840480"/>
            <a:ext cx="54864" cy="1005840"/>
          </a:xfrm>
          <a:prstGeom prst="rect">
            <a:avLst/>
          </a:prstGeom>
          <a:solidFill>
            <a:srgbClr val="AA344D"/>
          </a:solidFill>
        </p:spPr>
      </p:sp>
      <p:sp>
        <p:nvSpPr>
          <p:cNvPr id="32" name="Text 30"/>
          <p:cNvSpPr/>
          <p:nvPr/>
        </p:nvSpPr>
        <p:spPr>
          <a:xfrm>
            <a:off x="6492240" y="3931920"/>
            <a:ext cx="5029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ECharts 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92240" y="4279392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数据可视化图表库，支撑管理后台统计大屏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项目开发背景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为什么要开发这个项目？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48640" cy="36576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6" name="Text 4"/>
          <p:cNvSpPr/>
          <p:nvPr/>
        </p:nvSpPr>
        <p:spPr>
          <a:xfrm>
            <a:off x="548640" y="146304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当前痛点</a:t>
            </a:r>
            <a:endParaRPr lang="en-US" sz="1600" dirty="0"/>
          </a:p>
        </p:txBody>
      </p:sp>
      <p:sp>
        <p:nvSpPr>
          <p:cNvPr id="7" name="Shape 5"/>
          <p:cNvSpPr/>
          <p:nvPr>
            <p:custDataLst>
              <p:tags r:id="rId1"/>
            </p:custDataLst>
          </p:nvPr>
        </p:nvSpPr>
        <p:spPr>
          <a:xfrm>
            <a:off x="548640" y="1920240"/>
            <a:ext cx="5303520" cy="10058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8" name="Text 6"/>
          <p:cNvSpPr/>
          <p:nvPr>
            <p:custDataLst>
              <p:tags r:id="rId2"/>
            </p:custDataLst>
          </p:nvPr>
        </p:nvSpPr>
        <p:spPr>
          <a:xfrm>
            <a:off x="685800" y="2011680"/>
            <a:ext cx="66675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>
            <p:custDataLst>
              <p:tags r:id="rId3"/>
            </p:custDataLst>
          </p:nvPr>
        </p:nvSpPr>
        <p:spPr>
          <a:xfrm>
            <a:off x="1280160" y="2011680"/>
            <a:ext cx="4389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纸质化效率低</a:t>
            </a:r>
            <a:endParaRPr lang="en-US" sz="1300" dirty="0"/>
          </a:p>
        </p:txBody>
      </p:sp>
      <p:sp>
        <p:nvSpPr>
          <p:cNvPr id="10" name="Text 8"/>
          <p:cNvSpPr/>
          <p:nvPr>
            <p:custDataLst>
              <p:tags r:id="rId4"/>
            </p:custDataLst>
          </p:nvPr>
        </p:nvSpPr>
        <p:spPr>
          <a:xfrm>
            <a:off x="1280160" y="2331720"/>
            <a:ext cx="4480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传统学分认定依赖纸质材料，流程繁琐、易丢失、查询困难</a:t>
            </a:r>
            <a:endParaRPr lang="en-US" sz="1050" dirty="0"/>
          </a:p>
        </p:txBody>
      </p:sp>
      <p:sp>
        <p:nvSpPr>
          <p:cNvPr id="11" name="Shape 9"/>
          <p:cNvSpPr/>
          <p:nvPr>
            <p:custDataLst>
              <p:tags r:id="rId5"/>
            </p:custDataLst>
          </p:nvPr>
        </p:nvSpPr>
        <p:spPr>
          <a:xfrm>
            <a:off x="548640" y="3063240"/>
            <a:ext cx="5303520" cy="10058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2" name="Text 10"/>
          <p:cNvSpPr/>
          <p:nvPr>
            <p:custDataLst>
              <p:tags r:id="rId6"/>
            </p:custDataLst>
          </p:nvPr>
        </p:nvSpPr>
        <p:spPr>
          <a:xfrm>
            <a:off x="685800" y="3154680"/>
            <a:ext cx="666115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>
            <p:custDataLst>
              <p:tags r:id="rId7"/>
            </p:custDataLst>
          </p:nvPr>
        </p:nvSpPr>
        <p:spPr>
          <a:xfrm>
            <a:off x="1280160" y="3154680"/>
            <a:ext cx="4389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信息不互通</a:t>
            </a:r>
            <a:endParaRPr lang="en-US" sz="1300" dirty="0"/>
          </a:p>
        </p:txBody>
      </p:sp>
      <p:sp>
        <p:nvSpPr>
          <p:cNvPr id="14" name="Text 12"/>
          <p:cNvSpPr/>
          <p:nvPr>
            <p:custDataLst>
              <p:tags r:id="rId8"/>
            </p:custDataLst>
          </p:nvPr>
        </p:nvSpPr>
        <p:spPr>
          <a:xfrm>
            <a:off x="1280160" y="3474720"/>
            <a:ext cx="4480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竞赛、学分、社区各自孤立，学生无法统一管理创新成果</a:t>
            </a:r>
            <a:endParaRPr lang="en-US" sz="1050" dirty="0"/>
          </a:p>
        </p:txBody>
      </p:sp>
      <p:sp>
        <p:nvSpPr>
          <p:cNvPr id="15" name="Shape 13"/>
          <p:cNvSpPr/>
          <p:nvPr>
            <p:custDataLst>
              <p:tags r:id="rId9"/>
            </p:custDataLst>
          </p:nvPr>
        </p:nvSpPr>
        <p:spPr>
          <a:xfrm>
            <a:off x="548640" y="4206240"/>
            <a:ext cx="5303520" cy="100584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6" name="Text 14"/>
          <p:cNvSpPr/>
          <p:nvPr>
            <p:custDataLst>
              <p:tags r:id="rId10"/>
            </p:custDataLst>
          </p:nvPr>
        </p:nvSpPr>
        <p:spPr>
          <a:xfrm>
            <a:off x="685800" y="4297680"/>
            <a:ext cx="666115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>
            <p:custDataLst>
              <p:tags r:id="rId11"/>
            </p:custDataLst>
          </p:nvPr>
        </p:nvSpPr>
        <p:spPr>
          <a:xfrm>
            <a:off x="1280160" y="4297680"/>
            <a:ext cx="4389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审核不透明</a:t>
            </a:r>
            <a:endParaRPr lang="en-US" sz="1300" dirty="0"/>
          </a:p>
        </p:txBody>
      </p:sp>
      <p:sp>
        <p:nvSpPr>
          <p:cNvPr id="18" name="Text 16"/>
          <p:cNvSpPr/>
          <p:nvPr>
            <p:custDataLst>
              <p:tags r:id="rId12"/>
            </p:custDataLst>
          </p:nvPr>
        </p:nvSpPr>
        <p:spPr>
          <a:xfrm>
            <a:off x="1280160" y="4617720"/>
            <a:ext cx="4480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人工审核流程不透明，学生无法实时追踪申领进度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0" y="146304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解决方案</a:t>
            </a:r>
            <a:endParaRPr lang="en-US" sz="1600" dirty="0"/>
          </a:p>
        </p:txBody>
      </p:sp>
      <p:sp>
        <p:nvSpPr>
          <p:cNvPr id="20" name="Shape 18"/>
          <p:cNvSpPr/>
          <p:nvPr>
            <p:custDataLst>
              <p:tags r:id="rId13"/>
            </p:custDataLst>
          </p:nvPr>
        </p:nvSpPr>
        <p:spPr>
          <a:xfrm>
            <a:off x="6400800" y="1920240"/>
            <a:ext cx="5303520" cy="1005840"/>
          </a:xfrm>
          <a:prstGeom prst="rect">
            <a:avLst/>
          </a:prstGeom>
          <a:solidFill>
            <a:srgbClr val="CCFBF1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>
            <p:custDataLst>
              <p:tags r:id="rId14"/>
            </p:custDataLst>
          </p:nvPr>
        </p:nvSpPr>
        <p:spPr>
          <a:xfrm>
            <a:off x="6537960" y="2011680"/>
            <a:ext cx="641985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400" dirty="0"/>
          </a:p>
        </p:txBody>
      </p:sp>
      <p:sp>
        <p:nvSpPr>
          <p:cNvPr id="22" name="Text 20"/>
          <p:cNvSpPr/>
          <p:nvPr>
            <p:custDataLst>
              <p:tags r:id="rId15"/>
            </p:custDataLst>
          </p:nvPr>
        </p:nvSpPr>
        <p:spPr>
          <a:xfrm>
            <a:off x="7132320" y="2011680"/>
            <a:ext cx="4389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全流程数字化</a:t>
            </a:r>
            <a:endParaRPr lang="en-US" sz="1300" dirty="0"/>
          </a:p>
        </p:txBody>
      </p:sp>
      <p:sp>
        <p:nvSpPr>
          <p:cNvPr id="23" name="Text 21"/>
          <p:cNvSpPr/>
          <p:nvPr>
            <p:custDataLst>
              <p:tags r:id="rId16"/>
            </p:custDataLst>
          </p:nvPr>
        </p:nvSpPr>
        <p:spPr>
          <a:xfrm>
            <a:off x="7132320" y="2331720"/>
            <a:ext cx="4480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学生在线提交学分申领，管理员线上审批，全程可追溯</a:t>
            </a:r>
            <a:endParaRPr lang="en-US" sz="1050" dirty="0"/>
          </a:p>
        </p:txBody>
      </p:sp>
      <p:sp>
        <p:nvSpPr>
          <p:cNvPr id="24" name="Shape 22"/>
          <p:cNvSpPr/>
          <p:nvPr>
            <p:custDataLst>
              <p:tags r:id="rId17"/>
            </p:custDataLst>
          </p:nvPr>
        </p:nvSpPr>
        <p:spPr>
          <a:xfrm>
            <a:off x="6400800" y="3063240"/>
            <a:ext cx="5303520" cy="1005840"/>
          </a:xfrm>
          <a:prstGeom prst="rect">
            <a:avLst/>
          </a:prstGeom>
          <a:solidFill>
            <a:srgbClr val="CCFBF1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>
            <p:custDataLst>
              <p:tags r:id="rId18"/>
            </p:custDataLst>
          </p:nvPr>
        </p:nvSpPr>
        <p:spPr>
          <a:xfrm>
            <a:off x="6537960" y="3154680"/>
            <a:ext cx="5943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400" dirty="0"/>
          </a:p>
        </p:txBody>
      </p:sp>
      <p:sp>
        <p:nvSpPr>
          <p:cNvPr id="26" name="Text 24"/>
          <p:cNvSpPr/>
          <p:nvPr>
            <p:custDataLst>
              <p:tags r:id="rId19"/>
            </p:custDataLst>
          </p:nvPr>
        </p:nvSpPr>
        <p:spPr>
          <a:xfrm>
            <a:off x="7132320" y="3154680"/>
            <a:ext cx="4389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微服务一体化</a:t>
            </a:r>
            <a:endParaRPr lang="en-US" sz="1300" dirty="0"/>
          </a:p>
        </p:txBody>
      </p:sp>
      <p:sp>
        <p:nvSpPr>
          <p:cNvPr id="27" name="Text 25"/>
          <p:cNvSpPr/>
          <p:nvPr>
            <p:custDataLst>
              <p:tags r:id="rId20"/>
            </p:custDataLst>
          </p:nvPr>
        </p:nvSpPr>
        <p:spPr>
          <a:xfrm>
            <a:off x="7132320" y="3474720"/>
            <a:ext cx="4480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SpringCloud架构统一管理用户、学分、竞赛、社区四大模块</a:t>
            </a:r>
            <a:endParaRPr lang="en-US" sz="1050" dirty="0"/>
          </a:p>
        </p:txBody>
      </p:sp>
      <p:sp>
        <p:nvSpPr>
          <p:cNvPr id="28" name="Shape 26"/>
          <p:cNvSpPr/>
          <p:nvPr>
            <p:custDataLst>
              <p:tags r:id="rId21"/>
            </p:custDataLst>
          </p:nvPr>
        </p:nvSpPr>
        <p:spPr>
          <a:xfrm>
            <a:off x="6400800" y="4206240"/>
            <a:ext cx="5303520" cy="1005840"/>
          </a:xfrm>
          <a:prstGeom prst="rect">
            <a:avLst/>
          </a:prstGeom>
          <a:solidFill>
            <a:srgbClr val="CCFBF1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9" name="Text 27"/>
          <p:cNvSpPr/>
          <p:nvPr>
            <p:custDataLst>
              <p:tags r:id="rId22"/>
            </p:custDataLst>
          </p:nvPr>
        </p:nvSpPr>
        <p:spPr>
          <a:xfrm>
            <a:off x="6537960" y="4297680"/>
            <a:ext cx="6299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2400" dirty="0"/>
          </a:p>
        </p:txBody>
      </p:sp>
      <p:sp>
        <p:nvSpPr>
          <p:cNvPr id="30" name="Text 28"/>
          <p:cNvSpPr/>
          <p:nvPr>
            <p:custDataLst>
              <p:tags r:id="rId23"/>
            </p:custDataLst>
          </p:nvPr>
        </p:nvSpPr>
        <p:spPr>
          <a:xfrm>
            <a:off x="7132320" y="4297680"/>
            <a:ext cx="4389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实时可视化</a:t>
            </a:r>
            <a:endParaRPr lang="en-US" sz="1300" dirty="0"/>
          </a:p>
        </p:txBody>
      </p:sp>
      <p:sp>
        <p:nvSpPr>
          <p:cNvPr id="31" name="Text 29"/>
          <p:cNvSpPr/>
          <p:nvPr>
            <p:custDataLst>
              <p:tags r:id="rId24"/>
            </p:custDataLst>
          </p:nvPr>
        </p:nvSpPr>
        <p:spPr>
          <a:xfrm>
            <a:off x="7132320" y="4617720"/>
            <a:ext cx="44805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ECharts统计大屏直观展示学分分布与审核状态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5577840"/>
            <a:ext cx="11155680" cy="64008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33" name="Text 31"/>
          <p:cNvSpPr/>
          <p:nvPr/>
        </p:nvSpPr>
        <p:spPr>
          <a:xfrm>
            <a:off x="731520" y="5577840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目标：构建一个基于SpringCloud微服务架构的大学生创新创业学分管理系统，实现学分申领、审核、竞赛管理、社区交流的一体化平台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系统功能图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系统整体功能模块结构设计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48640" cy="36576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9" name="Text 7"/>
          <p:cNvSpPr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</a:t>
            </a:r>
            <a:endParaRPr lang="en-US" sz="1000" dirty="0"/>
          </a:p>
        </p:txBody>
      </p:sp>
      <p:pic>
        <p:nvPicPr>
          <p:cNvPr id="11" name="图片 10" descr="系统功能图.drawi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6390" y="1638300"/>
            <a:ext cx="8877300" cy="49339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用例图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学生、管理员</a:t>
            </a:r>
            <a:r>
              <a:rPr lang="zh-CN" altLang="en-US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</a:t>
            </a:r>
            <a:r>
              <a:rPr lang="en-US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类角色的用例分析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48640" cy="36576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9" name="Text 7"/>
          <p:cNvSpPr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</a:t>
            </a:r>
            <a:endParaRPr lang="en-US" sz="1000" dirty="0"/>
          </a:p>
        </p:txBody>
      </p:sp>
      <p:pic>
        <p:nvPicPr>
          <p:cNvPr id="11" name="图片 10" descr="用例图.drawi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5510" y="1331595"/>
            <a:ext cx="7719060" cy="55264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ER图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数据库实体关系模型设计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48640" cy="36576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9" name="Text 7"/>
          <p:cNvSpPr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</a:t>
            </a:r>
            <a:endParaRPr lang="en-US" sz="1000" dirty="0"/>
          </a:p>
        </p:txBody>
      </p:sp>
      <p:pic>
        <p:nvPicPr>
          <p:cNvPr id="11" name="图片 10" descr="传统ER图（更新）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0185"/>
            <a:ext cx="10206355" cy="5227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项目功能：认证授权模块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JWT Token 无状态认证 + Spring Security 密码加密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48640" cy="36576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6" name="Text 4"/>
          <p:cNvSpPr/>
          <p:nvPr/>
        </p:nvSpPr>
        <p:spPr>
          <a:xfrm>
            <a:off x="548640" y="146304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功能说明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5029200" cy="2743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用户登录验证（用户名 + 密码）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密码双重校验：明文比对 + BCrypt加密匹配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JWT Token 生成，携带 userId、username、role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Token 返回前端，后续请求 Header 携带认证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基于角色的权限控制（STUDENT/INSTRUCTOR/ADMIN）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4754880"/>
            <a:ext cx="5029200" cy="1371600"/>
          </a:xfrm>
          <a:prstGeom prst="rect">
            <a:avLst/>
          </a:prstGeom>
          <a:solidFill>
            <a:srgbClr val="CCFBF1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8463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技术亮点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5166360"/>
            <a:ext cx="46634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JwtUtils 工具类封装在 credit-common 公共模块中，所有微服务共享。AuthService 通过 PasswordEncoder 实现密码加密验证，支持明文与密文双重兼容。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0" y="1463040"/>
            <a:ext cx="5760720" cy="466344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53328" y="1536192"/>
            <a:ext cx="73152" cy="73152"/>
          </a:xfrm>
          <a:prstGeom prst="ellipse">
            <a:avLst/>
          </a:prstGeom>
          <a:solidFill>
            <a:srgbClr val="EF4444"/>
          </a:solidFill>
        </p:spPr>
      </p:sp>
      <p:sp>
        <p:nvSpPr>
          <p:cNvPr id="13" name="Shape 11"/>
          <p:cNvSpPr/>
          <p:nvPr/>
        </p:nvSpPr>
        <p:spPr>
          <a:xfrm>
            <a:off x="6163056" y="1536192"/>
            <a:ext cx="73152" cy="73152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4" name="Shape 12"/>
          <p:cNvSpPr/>
          <p:nvPr/>
        </p:nvSpPr>
        <p:spPr>
          <a:xfrm>
            <a:off x="6272784" y="1536192"/>
            <a:ext cx="73152" cy="73152"/>
          </a:xfrm>
          <a:prstGeom prst="ellipse">
            <a:avLst/>
          </a:prstGeom>
          <a:solidFill>
            <a:srgbClr val="22C55E"/>
          </a:solidFill>
        </p:spPr>
      </p:sp>
      <p:sp>
        <p:nvSpPr>
          <p:cNvPr id="15" name="Text 13"/>
          <p:cNvSpPr/>
          <p:nvPr/>
        </p:nvSpPr>
        <p:spPr>
          <a:xfrm>
            <a:off x="6080760" y="1691640"/>
            <a:ext cx="5486400" cy="4343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AuthService.java - 登录认证核心逻辑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public Map&lt;String, Object&gt; login(String username,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                 String password) {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User user = authMapper.selectOne(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new LambdaQueryWrapper&lt;User&gt;()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.eq(User::getUsername, username));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(user == null)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throw new RuntimeException("用户不存在");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// 密码双重校验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(!user.getPassword().equals(password) &amp;&amp;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!passwordEncoder.matches(password,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user.getPassword()))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throw new RuntimeException("密码错误");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// 生成JWT Token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Map&lt;String, Object&gt; claims = new HashMap&lt;&gt;();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claims.put("userId", user.getId());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claims.put("role", user.getRole());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String token = JwtUtils.createToken(claims);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Map.of("token", token);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项目功能：用户管理模块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用户CRUD + 指导教师管理 + 分页查询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48640" cy="36576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6" name="Text 4"/>
          <p:cNvSpPr/>
          <p:nvPr/>
        </p:nvSpPr>
        <p:spPr>
          <a:xfrm>
            <a:off x="548640" y="146304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功能说明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5029200" cy="2743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查询用户信息（自动隐藏密码字段）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修改个人基本信息（昵称、头像、电话等）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修改密码（校验原密码）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指导教师增删改查（管理员权限）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学生列表分页查询（MyBatis-Plus分页）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4754880"/>
            <a:ext cx="5029200" cy="1371600"/>
          </a:xfrm>
          <a:prstGeom prst="rect">
            <a:avLst/>
          </a:prstGeom>
          <a:solidFill>
            <a:srgbClr val="CCFBF1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84632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技术亮点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5166360"/>
            <a:ext cx="46634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利用 MyBatis-Plus 的 LambdaQueryWrapper 进行条件构造，配合 Page&lt;T&gt; 实现优雅的分页查询。密码字段在返回前手动置空，保障数据安全。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0" y="1463040"/>
            <a:ext cx="5760720" cy="466344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53328" y="1536192"/>
            <a:ext cx="73152" cy="73152"/>
          </a:xfrm>
          <a:prstGeom prst="ellipse">
            <a:avLst/>
          </a:prstGeom>
          <a:solidFill>
            <a:srgbClr val="EF4444"/>
          </a:solidFill>
        </p:spPr>
      </p:sp>
      <p:sp>
        <p:nvSpPr>
          <p:cNvPr id="13" name="Shape 11"/>
          <p:cNvSpPr/>
          <p:nvPr/>
        </p:nvSpPr>
        <p:spPr>
          <a:xfrm>
            <a:off x="6163056" y="1536192"/>
            <a:ext cx="73152" cy="73152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4" name="Shape 12"/>
          <p:cNvSpPr/>
          <p:nvPr/>
        </p:nvSpPr>
        <p:spPr>
          <a:xfrm>
            <a:off x="6272784" y="1536192"/>
            <a:ext cx="73152" cy="73152"/>
          </a:xfrm>
          <a:prstGeom prst="ellipse">
            <a:avLst/>
          </a:prstGeom>
          <a:solidFill>
            <a:srgbClr val="22C55E"/>
          </a:solidFill>
        </p:spPr>
      </p:sp>
      <p:sp>
        <p:nvSpPr>
          <p:cNvPr id="15" name="Text 13"/>
          <p:cNvSpPr/>
          <p:nvPr/>
        </p:nvSpPr>
        <p:spPr>
          <a:xfrm>
            <a:off x="6080760" y="1691640"/>
            <a:ext cx="5486400" cy="4343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UserController.java - 学生分页查询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@GetMapping("/students")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public Result&lt;Page&lt;User&gt;&gt; listStudents(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@RequestParam(defaultValue="1") int page,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@RequestParam(defaultValue="10") int size) {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Page&lt;User&gt; result = userService.lambdaQuery()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.eq(User::getRole, "STUDENT")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.orderByAsc(User::getId)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.page(new Page&lt;&gt;(page, size));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// 安全处理：清除密码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result.getRecords().forEach(u -&gt;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u.setPassword(null));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Result.success(result);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修改密码 - 校验原密码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@PutMapping("/password")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public Result&lt;String&gt; updatePassword(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Long id, String oldPwd, String newPwd) {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(!user.getPassword().equals(oldPwd))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FCD34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return Result.error("原密码错误");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user.setPassword(newPwd);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userService.updateById(user);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Result.success("密码修改成功");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项目功能：学分申领模块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学生申领 → 管理员审批 → 学分统计 全流程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48640" cy="36576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6" name="Text 4"/>
          <p:cNvSpPr/>
          <p:nvPr/>
        </p:nvSpPr>
        <p:spPr>
          <a:xfrm>
            <a:off x="548640" y="146304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功能说明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5029200" cy="2926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学生提交学分申领（含获奖图片上传）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查询个人已获学分总分（BigDecimal累加）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查看个人获奖记录（按学年筛选）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管理员审批：通过/驳回 + 审核备注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学生撤回待审核的申领记录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管理员查看所有申领记录（分页）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4937760"/>
            <a:ext cx="5029200" cy="1188720"/>
          </a:xfrm>
          <a:prstGeom prst="rect">
            <a:avLst/>
          </a:prstGeom>
          <a:solidFill>
            <a:srgbClr val="CCFBF1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02920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技术亮点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5303520"/>
            <a:ext cx="46634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 BigDecimal 精确累加学分分数，避免浮点误差。审批流程通过 status 字段（0待审核/1通过/2驳回）实现状态机管理，删除时自动清理关联的图片文件。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0" y="1463040"/>
            <a:ext cx="5760720" cy="466344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53328" y="1536192"/>
            <a:ext cx="73152" cy="73152"/>
          </a:xfrm>
          <a:prstGeom prst="ellipse">
            <a:avLst/>
          </a:prstGeom>
          <a:solidFill>
            <a:srgbClr val="EF4444"/>
          </a:solidFill>
        </p:spPr>
      </p:sp>
      <p:sp>
        <p:nvSpPr>
          <p:cNvPr id="13" name="Shape 11"/>
          <p:cNvSpPr/>
          <p:nvPr/>
        </p:nvSpPr>
        <p:spPr>
          <a:xfrm>
            <a:off x="6163056" y="1536192"/>
            <a:ext cx="73152" cy="73152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4" name="Shape 12"/>
          <p:cNvSpPr/>
          <p:nvPr/>
        </p:nvSpPr>
        <p:spPr>
          <a:xfrm>
            <a:off x="6272784" y="1536192"/>
            <a:ext cx="73152" cy="73152"/>
          </a:xfrm>
          <a:prstGeom prst="ellipse">
            <a:avLst/>
          </a:prstGeom>
          <a:solidFill>
            <a:srgbClr val="22C55E"/>
          </a:solidFill>
        </p:spPr>
      </p:sp>
      <p:sp>
        <p:nvSpPr>
          <p:cNvPr id="15" name="Text 13"/>
          <p:cNvSpPr/>
          <p:nvPr/>
        </p:nvSpPr>
        <p:spPr>
          <a:xfrm>
            <a:off x="6080760" y="1691640"/>
            <a:ext cx="5486400" cy="4343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CreditApplyController.java - 审批核心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@PutMapping("/audit")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public Result&lt;String&gt; auditApply(Long id,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Integer status, String remark, Long auditorId) {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CreditApply apply = creditApplyService.getById(id);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(apply == null)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FCD34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return Result.error("记录不存在");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apply.setStatus(status); // 0待审 1通过 2驳回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apply.setAuditRemark(remark);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apply.setAuditorId(auditorId);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apply.setAuditTime(LocalDateTime.now());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creditApplyService.updateById(apply);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Result.success("审批完成");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学分总分统计 - BigDecimal精确计算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List&lt;CreditApply&gt; list = service.lambdaQuery()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.eq(CreditApply::getUserId, userId)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.eq(CreditApply::getStatus, 1) // 已批准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.list();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BigDecimal total = list.stream()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.map(CreditApply::getCreditScore)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.reduce(BigDecimal.ZERO, BigDecimal::add);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项目功能：社区交流模块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技术求助发布 + 帖子回复 + 社区互动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48640" cy="36576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6" name="Text 4"/>
          <p:cNvSpPr/>
          <p:nvPr/>
        </p:nvSpPr>
        <p:spPr>
          <a:xfrm>
            <a:off x="548640" y="146304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功能说明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5029200" cy="2926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学生/管理员发布求助或公告信息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分页查看所有社区帖子（按时间倒序）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查看帖子详情及所有回复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回复帖子（学生/管理员均可）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编辑自己的帖子内容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管理员删除不当帖子或回复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4937760"/>
            <a:ext cx="5029200" cy="1188720"/>
          </a:xfrm>
          <a:prstGeom prst="rect">
            <a:avLst/>
          </a:prstGeom>
          <a:solidFill>
            <a:srgbClr val="CCFBF1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02920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技术亮点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5303520"/>
            <a:ext cx="46634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采用 CommunityPost + PostReply 双表设计，通过 postId 关联实现帖子-回复的一对多关系。MyBatis-Plus 的 lambdaQuery 链式调用简化了条件查询代码。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0" y="1463040"/>
            <a:ext cx="5760720" cy="466344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53328" y="1536192"/>
            <a:ext cx="73152" cy="73152"/>
          </a:xfrm>
          <a:prstGeom prst="ellipse">
            <a:avLst/>
          </a:prstGeom>
          <a:solidFill>
            <a:srgbClr val="EF4444"/>
          </a:solidFill>
        </p:spPr>
      </p:sp>
      <p:sp>
        <p:nvSpPr>
          <p:cNvPr id="13" name="Shape 11"/>
          <p:cNvSpPr/>
          <p:nvPr/>
        </p:nvSpPr>
        <p:spPr>
          <a:xfrm>
            <a:off x="6163056" y="1536192"/>
            <a:ext cx="73152" cy="73152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4" name="Shape 12"/>
          <p:cNvSpPr/>
          <p:nvPr/>
        </p:nvSpPr>
        <p:spPr>
          <a:xfrm>
            <a:off x="6272784" y="1536192"/>
            <a:ext cx="73152" cy="73152"/>
          </a:xfrm>
          <a:prstGeom prst="ellipse">
            <a:avLst/>
          </a:prstGeom>
          <a:solidFill>
            <a:srgbClr val="22C55E"/>
          </a:solidFill>
        </p:spPr>
      </p:sp>
      <p:sp>
        <p:nvSpPr>
          <p:cNvPr id="15" name="Text 13"/>
          <p:cNvSpPr/>
          <p:nvPr/>
        </p:nvSpPr>
        <p:spPr>
          <a:xfrm>
            <a:off x="6080760" y="1691640"/>
            <a:ext cx="5486400" cy="4343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CommunityController.java - 发帖+分页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@PostMapping("/post")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public Result&lt;String&gt; createPost(@RequestBody CommunityPost post) {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if (post.getUserId() == null)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FCD34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return Result.error("用户ID不能为空");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boolean success = communityPostService.save(post);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success ? Result.success("发布成功")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      : Result.error("发布失败");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分页查询帖子列表（按时间倒序）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@GetMapping("/list")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public Result&lt;Page&lt;CommunityPost&gt;&gt; list(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@RequestParam(defaultValue="1") int page,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@RequestParam(defaultValue="10") int size) {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Result.success(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communityPostService.lambdaQuery()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.orderByDesc(CommunityPost::getCreateTime)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.page(new Page&lt;&gt;(page, size)));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回复帖子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@PostMapping("/reply")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public Result&lt;String&gt; reply(@RequestBody PostReply reply) {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postReplyService.save(reply);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return Result.success("回复成功");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项目功能：网关路由配置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Spring Cloud Gateway + Nacos 动态服务发现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48640" cy="36576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6" name="Text 4"/>
          <p:cNvSpPr/>
          <p:nvPr/>
        </p:nvSpPr>
        <p:spPr>
          <a:xfrm>
            <a:off x="548640" y="146304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功能说明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5029200" cy="2926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统一入口：所有请求经 Gateway(8080) 转发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动态路由：lb://服务名 自动负载均衡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全局跨域：CORS 统一配置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Nacos 服务发现：自动注册与发现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Nacos 配置中心：配置热更新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超时控制：连接5s / 响应30s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4937760"/>
            <a:ext cx="5029200" cy="1188720"/>
          </a:xfrm>
          <a:prstGeom prst="rect">
            <a:avLst/>
          </a:prstGeom>
          <a:solidFill>
            <a:srgbClr val="CCFBF1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029200"/>
            <a:ext cx="45720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技术亮点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5303520"/>
            <a:ext cx="46634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 Nacos discovery locator 自动创建路由，新增微服务无需修改网关配置。配置文件通过 nacos:credit-gateway.yml?refresh=true 实现热更新，无需重启。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0" y="1463040"/>
            <a:ext cx="5760720" cy="4663440"/>
          </a:xfrm>
          <a:prstGeom prst="rect">
            <a:avLst/>
          </a:prstGeom>
          <a:solidFill>
            <a:srgbClr val="1E293B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53328" y="1536192"/>
            <a:ext cx="73152" cy="73152"/>
          </a:xfrm>
          <a:prstGeom prst="ellipse">
            <a:avLst/>
          </a:prstGeom>
          <a:solidFill>
            <a:srgbClr val="EF4444"/>
          </a:solidFill>
        </p:spPr>
      </p:sp>
      <p:sp>
        <p:nvSpPr>
          <p:cNvPr id="13" name="Shape 11"/>
          <p:cNvSpPr/>
          <p:nvPr/>
        </p:nvSpPr>
        <p:spPr>
          <a:xfrm>
            <a:off x="6163056" y="1536192"/>
            <a:ext cx="73152" cy="73152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4" name="Shape 12"/>
          <p:cNvSpPr/>
          <p:nvPr/>
        </p:nvSpPr>
        <p:spPr>
          <a:xfrm>
            <a:off x="6272784" y="1536192"/>
            <a:ext cx="73152" cy="73152"/>
          </a:xfrm>
          <a:prstGeom prst="ellipse">
            <a:avLst/>
          </a:prstGeom>
          <a:solidFill>
            <a:srgbClr val="22C55E"/>
          </a:solidFill>
        </p:spPr>
      </p:sp>
      <p:sp>
        <p:nvSpPr>
          <p:cNvPr id="15" name="Text 13"/>
          <p:cNvSpPr/>
          <p:nvPr/>
        </p:nvSpPr>
        <p:spPr>
          <a:xfrm>
            <a:off x="6080760" y="1691640"/>
            <a:ext cx="5486400" cy="4343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# application.yml - Gateway 网关配置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server: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port: 8080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spring: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application: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FCD34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name: credit-gateway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cloud: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nacos: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discovery: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FCD34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server-addr: 127.0.0.1:8848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gateway: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globalcors:  # 全局跨域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cors-configurations: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'[/**]':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FCD34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allowedOrigins: "*"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routes:  # 动态路由规则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- id: credit-auth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uri: lb://credit-auth  # 负载均衡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predicates: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FCD34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- Path=/auth/**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- id: credit-user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uri: lb://credit-user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predicates: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FCD34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- Path=/user/**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5EEAD4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config: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E2E8F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import:</a:t>
            </a:r>
            <a:endParaRPr lang="en-US" sz="8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900" dirty="0">
                <a:solidFill>
                  <a:srgbClr val="FCD34D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- optional:nacos:credit-gateway.yml?refresh=true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学习收获 · 遇到的问题 · 未来展望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48640" cy="36576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6" name="Shape 4"/>
          <p:cNvSpPr/>
          <p:nvPr/>
        </p:nvSpPr>
        <p:spPr>
          <a:xfrm>
            <a:off x="548640" y="1554480"/>
            <a:ext cx="3611880" cy="4389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54480"/>
            <a:ext cx="3611880" cy="54864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8" name="Text 6"/>
          <p:cNvSpPr/>
          <p:nvPr/>
        </p:nvSpPr>
        <p:spPr>
          <a:xfrm>
            <a:off x="731520" y="1737360"/>
            <a:ext cx="3246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学习收获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3246120" cy="3566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掌握了SpringCloud微服务架构设计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深入理解Nacos服务注册与配置中心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熟练运用MyBatis-Plus进行数据操作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学会JWT认证与Spring Security集成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掌握了Vue 3 + Element Plus前端开发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理解了前后端分离开发全流程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554480"/>
            <a:ext cx="3611880" cy="4389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554480"/>
            <a:ext cx="3611880" cy="54864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2" name="Text 10"/>
          <p:cNvSpPr/>
          <p:nvPr/>
        </p:nvSpPr>
        <p:spPr>
          <a:xfrm>
            <a:off x="4572000" y="1737360"/>
            <a:ext cx="3246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遇到的问题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2194560"/>
            <a:ext cx="3246120" cy="3566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微服务间跨域问题（Gateway全局CORS解决）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Nacos服务注册失败（检查版本兼容性）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MyBatis-Plus分页插件未生效（需配置拦截器）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JWT Token跨服务传递与解析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前端路由权限控制与动态菜单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文件上传路径与静态资源访问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1554480"/>
            <a:ext cx="3611880" cy="4389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554480"/>
            <a:ext cx="3611880" cy="54864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16" name="Text 14"/>
          <p:cNvSpPr/>
          <p:nvPr/>
        </p:nvSpPr>
        <p:spPr>
          <a:xfrm>
            <a:off x="8412480" y="1737360"/>
            <a:ext cx="3246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未来展望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2194560"/>
            <a:ext cx="3246120" cy="3566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引入Redis缓存提升查询性能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集成消息队列实现异步通知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完善OAuth2.0统一认证中心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增加Docker容器化部署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引入ELK日志分析系统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开发移动端适配版本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6126480"/>
            <a:ext cx="11155680" cy="4572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19" name="Text 17"/>
          <p:cNvSpPr/>
          <p:nvPr/>
        </p:nvSpPr>
        <p:spPr>
          <a:xfrm>
            <a:off x="731520" y="6126480"/>
            <a:ext cx="10789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通过本项目实践，从需求分析到系统部署，完整经历了软件工程全生命周期，提升了架构设计与工程实践能力。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704320" y="649224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828800" y="2286000"/>
            <a:ext cx="850392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感谢聆听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5394960" y="3474720"/>
            <a:ext cx="1371600" cy="36576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6" name="Text 4"/>
          <p:cNvSpPr/>
          <p:nvPr/>
        </p:nvSpPr>
        <p:spPr>
          <a:xfrm>
            <a:off x="1828800" y="3749040"/>
            <a:ext cx="85039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4B8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敬请老师批评指正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5303520"/>
            <a:ext cx="8503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基于SpringCloud的大学生创新创业学分管理系统</a:t>
            </a:r>
            <a:endParaRPr lang="en-US" sz="13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59.2,&quot;left&quot;:43.2,&quot;top&quot;:151.2,&quot;width&quot;:878.4}"/>
</p:tagLst>
</file>

<file path=ppt/tags/tag2.xml><?xml version="1.0" encoding="utf-8"?>
<p:tagLst xmlns:p="http://schemas.openxmlformats.org/presentationml/2006/main">
  <p:tag name="KSO_WM_DIAGRAM_VIRTUALLY_FRAME" val="{&quot;height&quot;:259.2,&quot;left&quot;:43.2,&quot;top&quot;:151.2,&quot;width&quot;:878.4}"/>
</p:tagLst>
</file>

<file path=ppt/tags/tag3.xml><?xml version="1.0" encoding="utf-8"?>
<p:tagLst xmlns:p="http://schemas.openxmlformats.org/presentationml/2006/main">
  <p:tag name="KSO_WM_DIAGRAM_VIRTUALLY_FRAME" val="{&quot;height&quot;:259.2,&quot;left&quot;:43.2,&quot;top&quot;:151.2,&quot;width&quot;:878.4}"/>
</p:tagLst>
</file>

<file path=ppt/tags/tag4.xml><?xml version="1.0" encoding="utf-8"?>
<p:tagLst xmlns:p="http://schemas.openxmlformats.org/presentationml/2006/main">
  <p:tag name="KSO_WM_DIAGRAM_VIRTUALLY_FRAME" val="{&quot;height&quot;:259.2,&quot;left&quot;:43.2,&quot;top&quot;:151.2,&quot;width&quot;:878.4}"/>
</p:tagLst>
</file>

<file path=ppt/tags/tag5.xml><?xml version="1.0" encoding="utf-8"?>
<p:tagLst xmlns:p="http://schemas.openxmlformats.org/presentationml/2006/main">
  <p:tag name="KSO_WM_DIAGRAM_VIRTUALLY_FRAME" val="{&quot;height&quot;:259.2,&quot;left&quot;:43.2,&quot;top&quot;:151.2,&quot;width&quot;:878.4}"/>
</p:tagLst>
</file>

<file path=ppt/tags/tag6.xml><?xml version="1.0" encoding="utf-8"?>
<p:tagLst xmlns:p="http://schemas.openxmlformats.org/presentationml/2006/main">
  <p:tag name="KSO_WM_DIAGRAM_VIRTUALLY_FRAME" val="{&quot;height&quot;:259.2,&quot;left&quot;:43.2,&quot;top&quot;:151.2,&quot;width&quot;:878.4}"/>
</p:tagLst>
</file>

<file path=ppt/tags/tag7.xml><?xml version="1.0" encoding="utf-8"?>
<p:tagLst xmlns:p="http://schemas.openxmlformats.org/presentationml/2006/main">
  <p:tag name="KSO_WM_DIAGRAM_VIRTUALLY_FRAME" val="{&quot;height&quot;:259.2,&quot;left&quot;:43.2,&quot;top&quot;:151.2,&quot;width&quot;:878.4}"/>
</p:tagLst>
</file>

<file path=ppt/tags/tag8.xml><?xml version="1.0" encoding="utf-8"?>
<p:tagLst xmlns:p="http://schemas.openxmlformats.org/presentationml/2006/main">
  <p:tag name="KSO_WM_DIAGRAM_VIRTUALLY_FRAME" val="{&quot;height&quot;:259.2,&quot;left&quot;:43.2,&quot;top&quot;:151.2,&quot;width&quot;:878.4}"/>
</p:tagLst>
</file>

<file path=ppt/tags/tag9.xml><?xml version="1.0" encoding="utf-8"?>
<p:tagLst xmlns:p="http://schemas.openxmlformats.org/presentationml/2006/main">
  <p:tag name="KSO_WM_DIAGRAM_VIRTUALLY_FRAME" val="{&quot;height&quot;:259.2,&quot;left&quot;:43.2,&quot;top&quot;:151.2,&quot;width&quot;:878.4}"/>
</p:tagLst>
</file>

<file path=ppt/tags/tag10.xml><?xml version="1.0" encoding="utf-8"?>
<p:tagLst xmlns:p="http://schemas.openxmlformats.org/presentationml/2006/main">
  <p:tag name="KSO_WM_DIAGRAM_VIRTUALLY_FRAME" val="{&quot;height&quot;:259.2,&quot;left&quot;:43.2,&quot;top&quot;:151.2,&quot;width&quot;:878.4}"/>
</p:tagLst>
</file>

<file path=ppt/tags/tag11.xml><?xml version="1.0" encoding="utf-8"?>
<p:tagLst xmlns:p="http://schemas.openxmlformats.org/presentationml/2006/main">
  <p:tag name="KSO_WM_DIAGRAM_VIRTUALLY_FRAME" val="{&quot;height&quot;:259.2,&quot;left&quot;:43.2,&quot;top&quot;:151.2,&quot;width&quot;:878.4}"/>
</p:tagLst>
</file>

<file path=ppt/tags/tag12.xml><?xml version="1.0" encoding="utf-8"?>
<p:tagLst xmlns:p="http://schemas.openxmlformats.org/presentationml/2006/main">
  <p:tag name="KSO_WM_DIAGRAM_VIRTUALLY_FRAME" val="{&quot;height&quot;:259.2,&quot;left&quot;:43.2,&quot;top&quot;:151.2,&quot;width&quot;:878.4}"/>
</p:tagLst>
</file>

<file path=ppt/tags/tag13.xml><?xml version="1.0" encoding="utf-8"?>
<p:tagLst xmlns:p="http://schemas.openxmlformats.org/presentationml/2006/main">
  <p:tag name="KSO_WM_DIAGRAM_VIRTUALLY_FRAME" val="{&quot;height&quot;:259.2,&quot;left&quot;:43.2,&quot;top&quot;:151.2,&quot;width&quot;:878.4}"/>
</p:tagLst>
</file>

<file path=ppt/tags/tag14.xml><?xml version="1.0" encoding="utf-8"?>
<p:tagLst xmlns:p="http://schemas.openxmlformats.org/presentationml/2006/main">
  <p:tag name="KSO_WM_DIAGRAM_VIRTUALLY_FRAME" val="{&quot;height&quot;:259.2,&quot;left&quot;:43.2,&quot;top&quot;:151.2,&quot;width&quot;:878.4}"/>
</p:tagLst>
</file>

<file path=ppt/tags/tag15.xml><?xml version="1.0" encoding="utf-8"?>
<p:tagLst xmlns:p="http://schemas.openxmlformats.org/presentationml/2006/main">
  <p:tag name="KSO_WM_DIAGRAM_VIRTUALLY_FRAME" val="{&quot;height&quot;:259.2,&quot;left&quot;:43.2,&quot;top&quot;:151.2,&quot;width&quot;:878.4}"/>
</p:tagLst>
</file>

<file path=ppt/tags/tag16.xml><?xml version="1.0" encoding="utf-8"?>
<p:tagLst xmlns:p="http://schemas.openxmlformats.org/presentationml/2006/main">
  <p:tag name="KSO_WM_DIAGRAM_VIRTUALLY_FRAME" val="{&quot;height&quot;:259.2,&quot;left&quot;:43.2,&quot;top&quot;:151.2,&quot;width&quot;:878.4}"/>
</p:tagLst>
</file>

<file path=ppt/tags/tag17.xml><?xml version="1.0" encoding="utf-8"?>
<p:tagLst xmlns:p="http://schemas.openxmlformats.org/presentationml/2006/main">
  <p:tag name="KSO_WM_DIAGRAM_VIRTUALLY_FRAME" val="{&quot;height&quot;:259.2,&quot;left&quot;:43.2,&quot;top&quot;:151.2,&quot;width&quot;:878.4}"/>
</p:tagLst>
</file>

<file path=ppt/tags/tag18.xml><?xml version="1.0" encoding="utf-8"?>
<p:tagLst xmlns:p="http://schemas.openxmlformats.org/presentationml/2006/main">
  <p:tag name="KSO_WM_DIAGRAM_VIRTUALLY_FRAME" val="{&quot;height&quot;:259.2,&quot;left&quot;:43.2,&quot;top&quot;:151.2,&quot;width&quot;:878.4}"/>
</p:tagLst>
</file>

<file path=ppt/tags/tag19.xml><?xml version="1.0" encoding="utf-8"?>
<p:tagLst xmlns:p="http://schemas.openxmlformats.org/presentationml/2006/main">
  <p:tag name="KSO_WM_DIAGRAM_VIRTUALLY_FRAME" val="{&quot;height&quot;:259.2,&quot;left&quot;:43.2,&quot;top&quot;:151.2,&quot;width&quot;:878.4}"/>
</p:tagLst>
</file>

<file path=ppt/tags/tag20.xml><?xml version="1.0" encoding="utf-8"?>
<p:tagLst xmlns:p="http://schemas.openxmlformats.org/presentationml/2006/main">
  <p:tag name="KSO_WM_DIAGRAM_VIRTUALLY_FRAME" val="{&quot;height&quot;:259.2,&quot;left&quot;:43.2,&quot;top&quot;:151.2,&quot;width&quot;:878.4}"/>
</p:tagLst>
</file>

<file path=ppt/tags/tag21.xml><?xml version="1.0" encoding="utf-8"?>
<p:tagLst xmlns:p="http://schemas.openxmlformats.org/presentationml/2006/main">
  <p:tag name="KSO_WM_DIAGRAM_VIRTUALLY_FRAME" val="{&quot;height&quot;:259.2,&quot;left&quot;:43.2,&quot;top&quot;:151.2,&quot;width&quot;:878.4}"/>
</p:tagLst>
</file>

<file path=ppt/tags/tag22.xml><?xml version="1.0" encoding="utf-8"?>
<p:tagLst xmlns:p="http://schemas.openxmlformats.org/presentationml/2006/main">
  <p:tag name="KSO_WM_DIAGRAM_VIRTUALLY_FRAME" val="{&quot;height&quot;:259.2,&quot;left&quot;:43.2,&quot;top&quot;:151.2,&quot;width&quot;:878.4}"/>
</p:tagLst>
</file>

<file path=ppt/tags/tag23.xml><?xml version="1.0" encoding="utf-8"?>
<p:tagLst xmlns:p="http://schemas.openxmlformats.org/presentationml/2006/main">
  <p:tag name="KSO_WM_DIAGRAM_VIRTUALLY_FRAME" val="{&quot;height&quot;:259.2,&quot;left&quot;:43.2,&quot;top&quot;:151.2,&quot;width&quot;:878.4}"/>
</p:tagLst>
</file>

<file path=ppt/tags/tag24.xml><?xml version="1.0" encoding="utf-8"?>
<p:tagLst xmlns:p="http://schemas.openxmlformats.org/presentationml/2006/main">
  <p:tag name="KSO_WM_DIAGRAM_VIRTUALLY_FRAME" val="{&quot;height&quot;:259.2,&quot;left&quot;:43.2,&quot;top&quot;:151.2,&quot;width&quot;:878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6532</Words>
  <Application>WPS 演示</Application>
  <PresentationFormat>On-screen Show (16:9)</PresentationFormat>
  <Paragraphs>481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微软雅黑</vt:lpstr>
      <vt:lpstr>Arial</vt:lpstr>
      <vt:lpstr>Consolas</vt:lpstr>
      <vt:lpstr>Consolas</vt:lpstr>
      <vt:lpstr>Consolas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基于SpringCloud的大学生创新创业学分管理系统答辩</dc:title>
  <dc:creator>XXX</dc:creator>
  <dc:subject>PptxGenJS Presentation</dc:subject>
  <cp:lastModifiedBy>Eunsio</cp:lastModifiedBy>
  <cp:revision>4</cp:revision>
  <dcterms:created xsi:type="dcterms:W3CDTF">2026-06-28T07:11:00Z</dcterms:created>
  <dcterms:modified xsi:type="dcterms:W3CDTF">2026-06-28T07:44:49Z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8D654AA1915140B488955248AD17F7FA_12</vt:lpwstr>
  </property>
</Properties>
</file>